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Gelasio" panose="020B0604020202020204" charset="0"/>
      <p:regular r:id="rId17"/>
    </p:embeddedFont>
    <p:embeddedFont>
      <p:font typeface="Gelasio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ED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BFAD4-C3EA-0370-B914-4ABAE93367BA}" v="27" dt="2026-06-16T23:38:23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2286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825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Praxura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38164"/>
            <a:ext cx="5865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Die digitale Praxisverwaltung für Heilmittelerbringer.</a:t>
            </a:r>
            <a:endParaRPr lang="en-US" sz="3850" dirty="0"/>
          </a:p>
        </p:txBody>
      </p:sp>
      <p:sp>
        <p:nvSpPr>
          <p:cNvPr id="5" name="Shape 2"/>
          <p:cNvSpPr/>
          <p:nvPr/>
        </p:nvSpPr>
        <p:spPr>
          <a:xfrm>
            <a:off x="496119" y="3784922"/>
            <a:ext cx="121934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936" y="3832175"/>
            <a:ext cx="14969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TERMINBUCHUNG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86310" y="3784922"/>
            <a:ext cx="113005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76127" y="3832175"/>
            <a:ext cx="14076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PATIENTENAKTE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87204" y="3784922"/>
            <a:ext cx="128468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7021" y="3832175"/>
            <a:ext cx="15622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§302-ABRECHNUNG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2730" y="3784922"/>
            <a:ext cx="72055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2548" y="3832175"/>
            <a:ext cx="9981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TI-READY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5156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Eine Branche, die noch in der Vergangenheit lebt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25119" y="1412602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4055790" y="154327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44.000+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55790" y="1819647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Heilmittelpraxen in Deutschland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2271638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055790" y="240230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Telefon &amp; Zettel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55790" y="2678683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Terminvergabe noch analog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3130674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055790" y="326134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Manuell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55790" y="3537719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§302-Abrechnung fehleranfällig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989710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4055790" y="412038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Keine Lösung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55790" y="4396755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Kein integriertes System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A2184C-2EB3-DCB3-4B9B-00F4E65CE2D9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2679"/>
            <a:ext cx="61292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Praxura — alles in einem System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918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59881"/>
            <a:ext cx="20632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Online-Terminbuchung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24/7, ohne Telefonanruf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9918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259881"/>
            <a:ext cx="19393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Digitale Patientenakte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Therapieberichte integriert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79918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§302 SGB V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Abrechnungsvorbereitung automatisiert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Multi-Standort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Standorte &amp; Mitarbeiter verwalten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TI-Anbindung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Vorbereitet für 2027</a:t>
            </a:r>
            <a:endParaRPr lang="en-US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0A9308-E426-E228-B5DA-A542FA75D7C0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7254"/>
            <a:ext cx="5188893" cy="26489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03206" y="563314"/>
            <a:ext cx="1231702" cy="233660"/>
          </a:xfrm>
          <a:prstGeom prst="roundRect">
            <a:avLst>
              <a:gd name="adj" fmla="val 6598"/>
            </a:avLst>
          </a:prstGeom>
          <a:solidFill>
            <a:srgbClr val="ECE6DF"/>
          </a:solidFill>
          <a:ln/>
        </p:spPr>
      </p:sp>
      <p:sp>
        <p:nvSpPr>
          <p:cNvPr id="4" name="Text 1"/>
          <p:cNvSpPr/>
          <p:nvPr/>
        </p:nvSpPr>
        <p:spPr>
          <a:xfrm>
            <a:off x="6080224" y="601787"/>
            <a:ext cx="1534864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&amp; IM BETA-TEST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003206" y="843483"/>
            <a:ext cx="2649364" cy="120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Kein Konzept — ein fertiges Produkt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352" y="2182788"/>
            <a:ext cx="192658" cy="1926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0669" y="2178844"/>
            <a:ext cx="2231901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Dashboard für Praxisinhaber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20669" y="2696617"/>
            <a:ext cx="223190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Termine, Patienten, Finanzen auf einen Blick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352" y="3325267"/>
            <a:ext cx="192658" cy="1926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0669" y="3321323"/>
            <a:ext cx="197509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Patienten-Buchungsseite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420669" y="3638401"/>
            <a:ext cx="2231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Mobil-optimiert, sofort einsetzbar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352" y="4071119"/>
            <a:ext cx="192658" cy="1926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0669" y="4067175"/>
            <a:ext cx="184524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Rollenbasiertes System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420669" y="4384253"/>
            <a:ext cx="2231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Inhaber · Therapeuten · Rezeption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7BC3C9-AEEE-B13A-E8D8-1628BF27EE31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1102C7-1B1D-600F-3D8A-C37F5120C087}"/>
              </a:ext>
            </a:extLst>
          </p:cNvPr>
          <p:cNvSpPr/>
          <p:nvPr/>
        </p:nvSpPr>
        <p:spPr>
          <a:xfrm>
            <a:off x="7888750" y="4778371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613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Ein Milliardenmarkt mit klarem Digitalisierungsbedarf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3646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€35Mrd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4814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8792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44.000+ Praxen × Ø €800/Jahr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83646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€12M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24814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78792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~15.000 Praxen mit aktivem Digitalisierungsbedarf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36909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€600K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4014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SOM Jahr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320555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500 Praxen in Jahr 1–2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36909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€13,3Mrd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46849" y="4014043"/>
            <a:ext cx="181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GKV-Ausgaben 2024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432055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Heilmittel — Branche wächst</a:t>
            </a:r>
            <a:endParaRPr lang="en-US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08A0E5-0652-B5EF-F2C3-63FC99005D3E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8261"/>
            <a:ext cx="79221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SaaS — einfach, skalierbar, wiederkehrend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34766"/>
            <a:ext cx="8151763" cy="1128713"/>
          </a:xfrm>
          <a:prstGeom prst="roundRect">
            <a:avLst>
              <a:gd name="adj" fmla="val 1884"/>
            </a:avLst>
          </a:prstGeom>
          <a:solidFill>
            <a:srgbClr val="EEE8DD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934766"/>
            <a:ext cx="2717229" cy="112871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076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Starter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383036"/>
            <a:ext cx="2433712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~€49/Monat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Einzelpraxis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1934766"/>
            <a:ext cx="2717229" cy="112871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1934766"/>
            <a:ext cx="19050" cy="1128713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9" name="Text 7"/>
          <p:cNvSpPr/>
          <p:nvPr/>
        </p:nvSpPr>
        <p:spPr>
          <a:xfrm>
            <a:off x="3355107" y="2076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Professional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383036"/>
            <a:ext cx="2433712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~€99/Monat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+ §302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1934766"/>
            <a:ext cx="2717229" cy="112871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1934766"/>
            <a:ext cx="19050" cy="1128713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3" name="Text 11"/>
          <p:cNvSpPr/>
          <p:nvPr/>
        </p:nvSpPr>
        <p:spPr>
          <a:xfrm>
            <a:off x="6072336" y="2076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Klinik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383036"/>
            <a:ext cx="2433712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~€149/Monat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Multi-Standort, volle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22947"/>
            <a:ext cx="8151763" cy="552748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23717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385914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Jährliche Zahlung: 2 Monate gratis — Churn-Reduktion inklusive</a:t>
            </a:r>
            <a:endParaRPr lang="en-US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87FC3B-EC59-AAA9-5852-8BE6F4852A80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2969"/>
            <a:ext cx="83820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Der Markt ist bereit. Die alten Anbieter nicht.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5781" y="169031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Alte Generation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5781" y="2053530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2A599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Desktop-Software aus den 2000ern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2A599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Provisionsmodell: verdient an jeder Abrechnung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2A599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KI als Nachgedanke, nicht als Kern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2A599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 als kostenpflichtiges Add-on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69031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Praxura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053530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Cloud-native, gebaut für 2027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Kein Provisionsmodell — reines SaaS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KI von Anfang an integriert (Rezepterkennung, Dokumentation, Fehlerprüfung)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TI-ready als Standard, kein Aufpreis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545309"/>
            <a:ext cx="19050" cy="545753"/>
          </a:xfrm>
          <a:prstGeom prst="roundRect">
            <a:avLst>
              <a:gd name="adj" fmla="val 60000"/>
            </a:avLst>
          </a:prstGeom>
          <a:solidFill>
            <a:srgbClr val="D3C5B6"/>
          </a:solidFill>
          <a:ln/>
        </p:spPr>
      </p:sp>
      <p:sp>
        <p:nvSpPr>
          <p:cNvPr id="8" name="Text 6"/>
          <p:cNvSpPr/>
          <p:nvPr/>
        </p:nvSpPr>
        <p:spPr>
          <a:xfrm>
            <a:off x="708720" y="3704779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„Eine neue Generation von Praxisinhabern will keine Provisionen mehr zahlen. Wir sind ihre Antwort."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E15931-A1F9-BE10-C69A-88D1A721CAE5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6736"/>
            <a:ext cx="1819275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479227"/>
            <a:ext cx="21063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REGULATORISCHER TREIBER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75984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Der Markt kommt zu uns — nicht umgekehrt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1858417"/>
            <a:ext cx="4741813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077" y="2019226"/>
            <a:ext cx="18190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Pflicht ab 01.10.2027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14077" y="2325737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TI-Anbindung für alle Heilmittelerbringer verpflichtend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2855119"/>
            <a:ext cx="4741813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3015928"/>
            <a:ext cx="26837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Erzwungener Softwarewechsel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3322439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Jede Praxis muss aufrüsten — perfektes Timing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851821"/>
            <a:ext cx="4741813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077" y="4012629"/>
            <a:ext cx="28548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€221,74/Monat Förderpauschale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14077" y="4319141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GKV übernimmt TI-Kosten — keine Hürde für Praxen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1301576"/>
            <a:ext cx="4482926" cy="25402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92837" y="521866"/>
            <a:ext cx="542106" cy="173013"/>
          </a:xfrm>
          <a:prstGeom prst="roundRect">
            <a:avLst>
              <a:gd name="adj" fmla="val 7067"/>
            </a:avLst>
          </a:prstGeom>
          <a:solidFill>
            <a:srgbClr val="ECE6DF"/>
          </a:solidFill>
          <a:ln/>
        </p:spPr>
      </p:sp>
      <p:sp>
        <p:nvSpPr>
          <p:cNvPr id="4" name="Text 1"/>
          <p:cNvSpPr/>
          <p:nvPr/>
        </p:nvSpPr>
        <p:spPr>
          <a:xfrm>
            <a:off x="5853931" y="552376"/>
            <a:ext cx="877119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792837" y="724123"/>
            <a:ext cx="2299171" cy="1273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Nicht nur eine Idee — ein laufendes Produkt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92837" y="2079873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792837" y="2238673"/>
            <a:ext cx="2299171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8" name="Text 5"/>
          <p:cNvSpPr/>
          <p:nvPr/>
        </p:nvSpPr>
        <p:spPr>
          <a:xfrm>
            <a:off x="5792837" y="2318147"/>
            <a:ext cx="137301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MVP entwickelt &amp; live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92837" y="2626965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92837" y="2785765"/>
            <a:ext cx="2299171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1" name="Text 8"/>
          <p:cNvSpPr/>
          <p:nvPr/>
        </p:nvSpPr>
        <p:spPr>
          <a:xfrm>
            <a:off x="5792837" y="2865239"/>
            <a:ext cx="146521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Erste Beta-Nutzer aktiv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92837" y="3097709"/>
            <a:ext cx="229917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Aus dem Praxis-Netzwerk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92837" y="3387328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92837" y="3546128"/>
            <a:ext cx="2299171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5792837" y="3625602"/>
            <a:ext cx="170415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§302-Modul implementiert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92837" y="3934420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92837" y="4093220"/>
            <a:ext cx="2299171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5792837" y="4172694"/>
            <a:ext cx="16172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DSGVO-konform &amp; Stripe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92837" y="4405164"/>
            <a:ext cx="229917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AVV, Cookie-Banner, automatisierte Abrechnung</a:t>
            </a:r>
            <a:endParaRPr lang="en-US" sz="8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8E4952-2DD0-5D62-9F1C-3B9E67C8761C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9745"/>
            <a:ext cx="56828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Vom Netzwerk zur Skalierung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16249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725043"/>
            <a:ext cx="18512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Phase 1 · 0–6 Monate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303155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Persönliches Netzwerk · erste 10 zahlende Praxen · Verbände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2016249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725043"/>
            <a:ext cx="19545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Phase 2 · 6–18 Monate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3031554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Partner mit Abrechnungsdienstleistern · Content-Marketing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016249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725043"/>
            <a:ext cx="18436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Phase 3 · 18+ Monate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303155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Self-Onboarding-Funnel · Ziel: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500 Praxen</a:t>
            </a:r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982B54-5876-2226-6F34-182E734D0064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389855"/>
            <a:ext cx="674191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73784" y="415826"/>
            <a:ext cx="103688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FINANZPROJEKTION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523949"/>
            <a:ext cx="31518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Konservativer Wachstumspfad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26531" y="833958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83941" y="112982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Kunden Jahr 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771602" y="833958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29013" y="112982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Kunden Jahr 2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416674" y="833958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74085" y="112982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Kunden Jahr 3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126531" y="1280368"/>
            <a:ext cx="4890939" cy="571798"/>
          </a:xfrm>
          <a:prstGeom prst="roundRect">
            <a:avLst>
              <a:gd name="adj" fmla="val 1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2284" y="1311101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3422600" y="1311101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Jahr 1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642917" y="1311101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Jahr 2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863233" y="1311101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Jahr 3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202284" y="1452860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Kunden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3422600" y="1452860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642917" y="1452860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200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5863233" y="1452860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500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202284" y="1594619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Ø ARR/Kunde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3422600" y="1594619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€800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4642917" y="1594619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€900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5863233" y="1594619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€1.000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2202284" y="1736378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3422600" y="1736378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€40K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642917" y="1736378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€180K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5863233" y="1736378"/>
            <a:ext cx="15358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€500K</a:t>
            </a:r>
            <a:endParaRPr lang="en-US" sz="5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891978"/>
            <a:ext cx="4890939" cy="2738884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2126531" y="4670673"/>
            <a:ext cx="4890939" cy="196155"/>
          </a:xfrm>
          <a:prstGeom prst="roundRect">
            <a:avLst>
              <a:gd name="adj" fmla="val 5421"/>
            </a:avLst>
          </a:prstGeom>
          <a:solidFill>
            <a:srgbClr val="B6FCB8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373" y="4759226"/>
            <a:ext cx="88553" cy="7084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356768" y="4720233"/>
            <a:ext cx="504705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Break-even: Q3 Jahr 2 (bei Accelerator-Unterstützung)</a:t>
            </a:r>
            <a:endParaRPr lang="en-US" sz="55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CEDD8A-6B5F-601B-ED56-F641DA239FA2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42590"/>
            <a:ext cx="120803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889843"/>
            <a:ext cx="14856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NACHHALTIGKEIT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7522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Mehr als ein Produkt — Infrastruktur für das Gesundheitswesen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73796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805336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Digitalisierung entlastet Therapeuten → mehr Zeit für Patienten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27379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80533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Fehlerfreie §302-Abrechnung → weniger Rückforderungen von Krankenkassen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54248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407402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TI-Anbindung → bessere Vernetzung im Gesundheitssystem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542481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60553" y="407402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Langfristig: Brücke zwischen Heilmittelerbringern und GKV</a:t>
            </a:r>
            <a:endParaRPr lang="en-US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A39AFE-AE67-664E-E84E-509A4D7C5506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75606"/>
            <a:ext cx="388441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18096"/>
            <a:ext cx="6755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98712"/>
            <a:ext cx="68248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Womit ihr uns wirklich helfen könnt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54300"/>
            <a:ext cx="2622724" cy="16135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2351" y="2360637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927" y="2821260"/>
            <a:ext cx="230110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Mentoring im Bereich Gesundheitsrecht &amp; TI-Zertifizierung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2254300"/>
            <a:ext cx="2622724" cy="16135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6833" y="2360637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21410" y="2821260"/>
            <a:ext cx="230110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Netzwerkzugang zu Heilmittelpraxis-Verbänden und ersten Pilotkunden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2254300"/>
            <a:ext cx="2622724" cy="16135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2360637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2821260"/>
            <a:ext cx="230110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DIGITALHUB Accelerator — für Skalierung und strukturiertes Wachstum</a:t>
            </a:r>
            <a:endParaRPr lang="en-US" sz="13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06A29C-F6AD-2F13-7C89-199DF30F141F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5181"/>
            <a:ext cx="450652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635" y="657820"/>
            <a:ext cx="746820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98103"/>
            <a:ext cx="805740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Wirtschaftsinformatik trifft Gesundheitsbranche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573709"/>
            <a:ext cx="20354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👤</a:t>
            </a: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Gründer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1907009"/>
            <a:ext cx="4598566" cy="1937891"/>
          </a:xfrm>
          <a:prstGeom prst="roundRect">
            <a:avLst>
              <a:gd name="adj" fmla="val 9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162" y="1983953"/>
            <a:ext cx="2499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Ausbildung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1645" y="1983953"/>
            <a:ext cx="204207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Wirtschaftsinformatik, 4. Sem., H-BRS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7162" y="2514972"/>
            <a:ext cx="2499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Entwicklung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1645" y="2514972"/>
            <a:ext cx="204207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KI-gestützte Entwicklung &amp; Prozessautomatisierung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7162" y="3045991"/>
            <a:ext cx="2499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Branchenzugang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1645" y="3045991"/>
            <a:ext cx="204207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Persönliches Netzwerk in der Heilmittelbranche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7162" y="3577010"/>
            <a:ext cx="2499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1645" y="3577010"/>
            <a:ext cx="2499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MVP live, erste Beta-Nutzer aktiv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07521" y="1573709"/>
            <a:ext cx="2316882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🤝</a:t>
            </a: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Advisors &amp; Netzwerk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22902" y="1907009"/>
            <a:ext cx="14288" cy="2494806"/>
          </a:xfrm>
          <a:prstGeom prst="roundRect">
            <a:avLst>
              <a:gd name="adj" fmla="val 132553"/>
            </a:avLst>
          </a:prstGeom>
          <a:solidFill>
            <a:srgbClr val="D4CEC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3234" y="1907009"/>
            <a:ext cx="1622524" cy="113496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8" name="Text 16"/>
          <p:cNvSpPr/>
          <p:nvPr/>
        </p:nvSpPr>
        <p:spPr>
          <a:xfrm>
            <a:off x="5519440" y="2033215"/>
            <a:ext cx="13701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Physiotherapie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19440" y="2342927"/>
            <a:ext cx="137011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Beta-Nutzer aus der Praxis — direktes Feedback &amp; Pilotpartner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44333" y="3266852"/>
            <a:ext cx="1622524" cy="113496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21" name="Text 19"/>
          <p:cNvSpPr/>
          <p:nvPr/>
        </p:nvSpPr>
        <p:spPr>
          <a:xfrm>
            <a:off x="7170539" y="3393058"/>
            <a:ext cx="13701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Podologie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0539" y="3702769"/>
            <a:ext cx="137011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Beta-Nutzer aus der Praxis — direktes Feedback &amp; Pilotpartner</a:t>
            </a:r>
            <a:endParaRPr lang="en-US" sz="9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43C10C-F0ED-8533-F738-D21C236BD693}"/>
              </a:ext>
            </a:extLst>
          </p:cNvPr>
          <p:cNvSpPr/>
          <p:nvPr/>
        </p:nvSpPr>
        <p:spPr>
          <a:xfrm>
            <a:off x="7958053" y="4778699"/>
            <a:ext cx="1122028" cy="292594"/>
          </a:xfrm>
          <a:prstGeom prst="roundRect">
            <a:avLst/>
          </a:prstGeom>
          <a:solidFill>
            <a:srgbClr val="F9F6F0"/>
          </a:solidFill>
          <a:ln>
            <a:solidFill>
              <a:srgbClr val="F6F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3ED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15</cp:revision>
  <dcterms:created xsi:type="dcterms:W3CDTF">2026-06-16T23:20:18Z</dcterms:created>
  <dcterms:modified xsi:type="dcterms:W3CDTF">2026-06-16T23:38:55Z</dcterms:modified>
</cp:coreProperties>
</file>